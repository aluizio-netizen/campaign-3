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286000"/>
            <a:ext cx="12191695" cy="6400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983480"/>
            <a:ext cx="12191695" cy="6400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800" b="1" i="0">
                <a:solidFill>
                  <a:srgbClr val="C9A227"/>
                </a:solidFill>
                <a:latin typeface="Calibri"/>
              </a:rPr>
              <a:t>ESCOLA BÍBLICA DOMINICAL  ·  CLASSE DE ADULTOS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23160"/>
            <a:ext cx="11064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6400" b="1" i="0">
                <a:solidFill>
                  <a:srgbClr val="FFFFFF"/>
                </a:solidFill>
                <a:latin typeface="Georgia"/>
              </a:rPr>
              <a:t>SOMOS UM EM CRISTO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60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2600" b="0" i="1">
                <a:solidFill>
                  <a:srgbClr val="F6F2E8"/>
                </a:solidFill>
                <a:latin typeface="Georgia"/>
              </a:rPr>
              <a:t>Uma só oliveira, um só corpo, um só amor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1206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2200" b="1" i="0">
                <a:solidFill>
                  <a:srgbClr val="C9A227"/>
                </a:solidFill>
                <a:latin typeface="Calibri"/>
              </a:rPr>
              <a:t>Estudo em Romanos 11 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807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F6F2E8"/>
                </a:solidFill>
                <a:latin typeface="Calibri"/>
              </a:rPr>
              <a:t>Segunda Igreja Batista de Campo Grande-MS  ·  Duração: 60 minutos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2200" b="1" i="0">
                <a:solidFill>
                  <a:srgbClr val="C9A227"/>
                </a:solidFill>
                <a:latin typeface="Calibri"/>
              </a:rPr>
              <a:t>VERSÍCULO-TEMA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4000" b="0" i="1">
                <a:solidFill>
                  <a:srgbClr val="FFFFFF"/>
                </a:solidFill>
                <a:latin typeface="Georgia"/>
              </a:rPr>
              <a:t>“Assim nós, conquanto muitos, somos um só corpo em Cristo, e membros uns dos outros.”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02920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2800" b="1" i="0">
                <a:solidFill>
                  <a:srgbClr val="C9A227"/>
                </a:solidFill>
                <a:latin typeface="Calibri"/>
              </a:rPr>
              <a:t>Romanos 12.5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822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FFFFFF"/>
                </a:solidFill>
                <a:latin typeface="Georgia"/>
              </a:rPr>
              <a:t>Para onde vamos hoje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700" b="1" i="0">
                <a:solidFill>
                  <a:srgbClr val="1F3A5F"/>
                </a:solidFill>
                <a:latin typeface="Calibri"/>
              </a:rPr>
              <a:t>• Em Cristo, Deus forma UM só povo de muitos povos.</a:t>
            </a:r>
          </a:p>
          <a:p>
            <a:pPr>
              <a:spcAft>
                <a:spcPts val="1400"/>
              </a:spcAft>
            </a:pPr>
            <a:r>
              <a:rPr sz="2500" b="0" i="0">
                <a:solidFill>
                  <a:srgbClr val="2B2B2B"/>
                </a:solidFill>
                <a:latin typeface="Calibri"/>
              </a:rPr>
              <a:t>• 1.  Um só povo — a oliveira de Deus (Romanos 11)</a:t>
            </a:r>
          </a:p>
          <a:p>
            <a:pPr>
              <a:spcAft>
                <a:spcPts val="1400"/>
              </a:spcAft>
            </a:pPr>
            <a:r>
              <a:rPr sz="2500" b="0" i="0">
                <a:solidFill>
                  <a:srgbClr val="2B2B2B"/>
                </a:solidFill>
                <a:latin typeface="Calibri"/>
              </a:rPr>
              <a:t>• 2.  Um só corpo — unidade, diversidade, mutualidade e utilidade (Romanos 12.1-8)</a:t>
            </a:r>
          </a:p>
          <a:p>
            <a:pPr>
              <a:spcAft>
                <a:spcPts val="1400"/>
              </a:spcAft>
            </a:pPr>
            <a:r>
              <a:rPr sz="2500" b="0" i="0">
                <a:solidFill>
                  <a:srgbClr val="2B2B2B"/>
                </a:solidFill>
                <a:latin typeface="Calibri"/>
              </a:rPr>
              <a:t>• 3.  Um só amor — a vida que sustenta a unidade (Romanos 12.9-21)</a:t>
            </a:r>
          </a:p>
          <a:p>
            <a:pPr>
              <a:spcAft>
                <a:spcPts val="1400"/>
              </a:spcAft>
            </a:pPr>
            <a:r>
              <a:rPr sz="2500" b="1" i="0">
                <a:solidFill>
                  <a:srgbClr val="2E6E6A"/>
                </a:solidFill>
                <a:latin typeface="Calibri"/>
              </a:rPr>
              <a:t>• Aplicação: como vivemos essa unidade na nossa igreja?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1F3A5F"/>
                </a:solidFill>
                <a:latin typeface="Calibri"/>
              </a:rPr>
              <a:t>Somos um em Cristo  ·  EBD – 2ª IB Campo Grande-MS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1F3A5F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822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FFFFFF"/>
                </a:solidFill>
                <a:latin typeface="Georgia"/>
              </a:rPr>
              <a:t>Introdução: da doutrina à vida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686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1" i="1">
                <a:solidFill>
                  <a:srgbClr val="C9A227"/>
                </a:solidFill>
                <a:latin typeface="Calibri"/>
              </a:rPr>
              <a:t>Romanos 1–11 → 12–16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600" b="0" i="0">
                <a:solidFill>
                  <a:srgbClr val="2B2B2B"/>
                </a:solidFill>
                <a:latin typeface="Calibri"/>
              </a:rPr>
              <a:t>• Romanos é o maior tratado teológico do NT. Nos capítulos 1–11, Paulo expõe a doutrina; a partir do 12, trata da vida prática.</a:t>
            </a:r>
          </a:p>
          <a:p>
            <a:pPr>
              <a:spcAft>
                <a:spcPts val="1400"/>
              </a:spcAft>
            </a:pPr>
            <a:r>
              <a:rPr sz="2600" b="0" i="0">
                <a:solidFill>
                  <a:srgbClr val="2B2B2B"/>
                </a:solidFill>
                <a:latin typeface="Calibri"/>
              </a:rPr>
              <a:t>• O capítulo 11 termina em adoração: “A Ele seja a glória para sempre!” (Rm 11.36). A unidade nasce da adoração.</a:t>
            </a:r>
          </a:p>
          <a:p>
            <a:pPr>
              <a:spcAft>
                <a:spcPts val="1400"/>
              </a:spcAft>
            </a:pPr>
            <a:r>
              <a:rPr sz="2600" b="1" i="0">
                <a:solidFill>
                  <a:srgbClr val="1F3A5F"/>
                </a:solidFill>
                <a:latin typeface="Calibri"/>
              </a:rPr>
              <a:t>• Não há relacionamento vertical correto com Deus se os relacionamentos horizontais com os irmãos estão errados.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1F3A5F"/>
                </a:solidFill>
                <a:latin typeface="Calibri"/>
              </a:rPr>
              <a:t>Somos um em Cristo  ·  EBD – 2ª IB Campo Grande-MS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1F3A5F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6400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2800" b="1" i="0">
                <a:solidFill>
                  <a:srgbClr val="C9A227"/>
                </a:solidFill>
                <a:latin typeface="Calibri"/>
              </a:rPr>
              <a:t>PONTO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8036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5000" b="1" i="0">
                <a:solidFill>
                  <a:srgbClr val="FFFFFF"/>
                </a:solidFill>
                <a:latin typeface="Georgia"/>
              </a:rPr>
              <a:t>Um só povo: a oliveira de Deus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6634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2400" b="0" i="1">
                <a:solidFill>
                  <a:srgbClr val="F6F2E8"/>
                </a:solidFill>
                <a:latin typeface="Calibri"/>
              </a:rPr>
              <a:t>Romanos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822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FFFFFF"/>
                </a:solidFill>
                <a:latin typeface="Georgia"/>
              </a:rPr>
              <a:t>Deus não rejeitou o seu povo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686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1" i="1">
                <a:solidFill>
                  <a:srgbClr val="C9A227"/>
                </a:solidFill>
                <a:latin typeface="Calibri"/>
              </a:rPr>
              <a:t>Romanos 11.1-10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600" b="0" i="0">
                <a:solidFill>
                  <a:srgbClr val="2B2B2B"/>
                </a:solidFill>
                <a:latin typeface="Calibri"/>
              </a:rPr>
              <a:t>• “De modo nenhum!” Deus não rejeitou Israel. O próprio Paulo é a prova: israelita, da descendência de Abraão.</a:t>
            </a:r>
          </a:p>
          <a:p>
            <a:pPr>
              <a:spcAft>
                <a:spcPts val="1400"/>
              </a:spcAft>
            </a:pPr>
            <a:r>
              <a:rPr sz="2600" b="0" i="0">
                <a:solidFill>
                  <a:srgbClr val="2B2B2B"/>
                </a:solidFill>
                <a:latin typeface="Calibri"/>
              </a:rPr>
              <a:t>• A rejeição é apenas parcial: sempre houve um remanescente fiel — como os 7.000 que não dobraram os joelhos a Baal.</a:t>
            </a:r>
          </a:p>
          <a:p>
            <a:pPr>
              <a:spcAft>
                <a:spcPts val="1400"/>
              </a:spcAft>
            </a:pPr>
            <a:r>
              <a:rPr sz="2600" b="1" i="0">
                <a:solidFill>
                  <a:srgbClr val="1F3A5F"/>
                </a:solidFill>
                <a:latin typeface="Calibri"/>
              </a:rPr>
              <a:t>• Esse remanescente existe “segundo a eleição da graça” (11.5). Não por obras — senão a graça já não seria graça.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1F3A5F"/>
                </a:solidFill>
                <a:latin typeface="Calibri"/>
              </a:rPr>
              <a:t>Somos um em Cristo  ·  EBD – 2ª IB Campo Grande-MS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1F3A5F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822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FFFFFF"/>
                </a:solidFill>
                <a:latin typeface="Georgia"/>
              </a:rPr>
              <a:t>Gentios enxertados na oliveira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686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1" i="1">
                <a:solidFill>
                  <a:srgbClr val="C9A227"/>
                </a:solidFill>
                <a:latin typeface="Calibri"/>
              </a:rPr>
              <a:t>Romanos 11.11-24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500" b="0" i="0">
                <a:solidFill>
                  <a:srgbClr val="2B2B2B"/>
                </a:solidFill>
                <a:latin typeface="Calibri"/>
              </a:rPr>
              <a:t>• A queda de Israel abriu espaço para a salvação dos gentios — e isso deve provocar Israel a um santo ciúme, para a sua restauração.</a:t>
            </a:r>
          </a:p>
          <a:p>
            <a:pPr>
              <a:spcAft>
                <a:spcPts val="1400"/>
              </a:spcAft>
            </a:pPr>
            <a:r>
              <a:rPr sz="2500" b="0" i="0">
                <a:solidFill>
                  <a:srgbClr val="2B2B2B"/>
                </a:solidFill>
                <a:latin typeface="Calibri"/>
              </a:rPr>
              <a:t>• A raiz é Abraão; os ramos naturais são os judeus; os gentios são ramos silvestres enxertados pela fé.</a:t>
            </a:r>
          </a:p>
          <a:p>
            <a:pPr>
              <a:spcAft>
                <a:spcPts val="1400"/>
              </a:spcAft>
            </a:pPr>
            <a:r>
              <a:rPr sz="2500" b="1" i="0">
                <a:solidFill>
                  <a:srgbClr val="1F3A5F"/>
                </a:solidFill>
                <a:latin typeface="Calibri"/>
              </a:rPr>
              <a:t>• “Não te glories contra os ramos” (11.18): o gentio não sustenta a raiz — a raiz é que o sustenta. Humildade, não orgulho.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1F3A5F"/>
                </a:solidFill>
                <a:latin typeface="Calibri"/>
              </a:rPr>
              <a:t>Somos um em Cristo  ·  EBD – 2ª IB Campo Grande-MS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1F3A5F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2600" b="1" i="0">
                <a:solidFill>
                  <a:srgbClr val="F6F2E8"/>
                </a:solidFill>
                <a:latin typeface="Calibri"/>
              </a:rPr>
              <a:t>A verdade central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91640"/>
            <a:ext cx="1051560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rIns="36576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0" i="1">
                <a:solidFill>
                  <a:srgbClr val="162A45"/>
                </a:solidFill>
                <a:latin typeface="Georgia"/>
              </a:rPr>
              <a:t>“Uma só oliveira representa todos os salvos, sem importar a origem. Para judeus e gentios, a salvação é a mesma: pela graça, por meio da fé, sobre a base da expiação de Cristo.”</a:t>
            </a:r>
          </a:p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900" b="1" i="0">
                <a:solidFill>
                  <a:srgbClr val="2E6E6A"/>
                </a:solidFill>
                <a:latin typeface="Calibri"/>
              </a:rPr>
              <a:t>Comentário de Romanos 11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91640"/>
            <a:ext cx="137160" cy="21031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20624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• Judeus e gentios foram chamados a formar “um só corpo em Cristo, a saber, a igreja” (Ef 3.4-6).</a:t>
            </a:r>
          </a:p>
          <a:p>
            <a:pPr>
              <a:spcAft>
                <a:spcPts val="1400"/>
              </a:spcAft>
            </a:pPr>
            <a:r>
              <a:rPr sz="2500" b="0" i="0">
                <a:solidFill>
                  <a:srgbClr val="F6F2E8"/>
                </a:solidFill>
                <a:latin typeface="Calibri"/>
              </a:rPr>
              <a:t>• A unidade do povo de Deus não é uniformidade — é união na mesma raiz, pela mesma graça.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6400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2800" b="1" i="0">
                <a:solidFill>
                  <a:srgbClr val="C9A227"/>
                </a:solidFill>
                <a:latin typeface="Calibri"/>
              </a:rPr>
              <a:t>PONTO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8036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5000" b="1" i="0">
                <a:solidFill>
                  <a:srgbClr val="FFFFFF"/>
                </a:solidFill>
                <a:latin typeface="Georgia"/>
              </a:rPr>
              <a:t>Um só corpo em Cristo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6634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2400" b="0" i="1">
                <a:solidFill>
                  <a:srgbClr val="F6F2E8"/>
                </a:solidFill>
                <a:latin typeface="Calibri"/>
              </a:rPr>
              <a:t>Romanos 12.1-8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822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FFFFFF"/>
                </a:solidFill>
                <a:latin typeface="Georgia"/>
              </a:rPr>
              <a:t>A base: vidas transformadas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686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1" i="1">
                <a:solidFill>
                  <a:srgbClr val="C9A227"/>
                </a:solidFill>
                <a:latin typeface="Calibri"/>
              </a:rPr>
              <a:t>Romanos 12.1-2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6070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600" b="0" i="0">
                <a:solidFill>
                  <a:srgbClr val="2B2B2B"/>
                </a:solidFill>
                <a:latin typeface="Calibri"/>
              </a:rPr>
              <a:t>• Primeiro, o relacionamento com Deus: oferecer o corpo em sacrifício vivo, santo e agradável — nosso culto racional.</a:t>
            </a:r>
          </a:p>
          <a:p>
            <a:pPr>
              <a:spcAft>
                <a:spcPts val="1400"/>
              </a:spcAft>
            </a:pPr>
            <a:r>
              <a:rPr sz="2600" b="0" i="0">
                <a:solidFill>
                  <a:srgbClr val="2B2B2B"/>
                </a:solidFill>
                <a:latin typeface="Calibri"/>
              </a:rPr>
              <a:t>• Não se conformar com este mundo, mas transformar-se pela renovação da mente (gr.: metamorfose, de dentro para fora).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480560"/>
            <a:ext cx="1051560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rIns="36576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300" b="0" i="1">
                <a:solidFill>
                  <a:srgbClr val="162A45"/>
                </a:solidFill>
                <a:latin typeface="Georgia"/>
              </a:rPr>
              <a:t>“Apresentai o vosso corpo por sacrifício vivo... transformai-vos pela renovação da vossa mente.”</a:t>
            </a:r>
          </a:p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900" b="1" i="0">
                <a:solidFill>
                  <a:srgbClr val="2E6E6A"/>
                </a:solidFill>
                <a:latin typeface="Calibri"/>
              </a:rPr>
              <a:t>Romanos 12.1-2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480560"/>
            <a:ext cx="137160" cy="1554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1F3A5F"/>
                </a:solidFill>
                <a:latin typeface="Calibri"/>
              </a:rPr>
              <a:t>Somos um em Cristo  ·  EBD – 2ª IB Campo Grande-MS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1F3A5F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822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FFFFFF"/>
                </a:solidFill>
                <a:latin typeface="Georgia"/>
              </a:rPr>
              <a:t>Um só corpo: quatro verdades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686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1" i="1">
                <a:solidFill>
                  <a:srgbClr val="C9A227"/>
                </a:solidFill>
                <a:latin typeface="Calibri"/>
              </a:rPr>
              <a:t>Romanos 12.3-8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2606040" cy="338328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>
              <a:spcBef>
                <a:spcPts val="0"/>
              </a:spcBef>
              <a:spcAft>
                <a:spcPts val="1200"/>
              </a:spcAft>
            </a:pPr>
            <a:r>
              <a:rPr sz="2300" b="1" i="0">
                <a:solidFill>
                  <a:srgbClr val="FFFFFF"/>
                </a:solidFill>
                <a:latin typeface="Georgia"/>
              </a:rPr>
              <a:t>UNIDADE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F6F2E8"/>
                </a:solidFill>
                <a:latin typeface="Calibri"/>
              </a:rPr>
              <a:t>Somos um só corpo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F6F2E8"/>
                </a:solidFill>
                <a:latin typeface="Calibri"/>
              </a:rPr>
              <a:t>Rm 12.5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920240"/>
            <a:ext cx="2606040" cy="3383280"/>
          </a:xfrm>
          <a:prstGeom prst="roundRect">
            <a:avLst/>
          </a:prstGeom>
          <a:solidFill>
            <a:srgbClr val="2E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>
              <a:spcBef>
                <a:spcPts val="0"/>
              </a:spcBef>
              <a:spcAft>
                <a:spcPts val="1200"/>
              </a:spcAft>
            </a:pPr>
            <a:r>
              <a:rPr sz="2300" b="1" i="0">
                <a:solidFill>
                  <a:srgbClr val="FFFFFF"/>
                </a:solidFill>
                <a:latin typeface="Georgia"/>
              </a:rPr>
              <a:t>DIVERSIDADE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F6F2E8"/>
                </a:solidFill>
                <a:latin typeface="Calibri"/>
              </a:rPr>
              <a:t>Muitos membros,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F6F2E8"/>
                </a:solidFill>
                <a:latin typeface="Calibri"/>
              </a:rPr>
              <a:t>dons diferentes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F6F2E8"/>
                </a:solidFill>
                <a:latin typeface="Calibri"/>
              </a:rPr>
              <a:t>Rm 12.4-6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920240"/>
            <a:ext cx="2606040" cy="3383280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>
              <a:spcBef>
                <a:spcPts val="0"/>
              </a:spcBef>
              <a:spcAft>
                <a:spcPts val="1200"/>
              </a:spcAft>
            </a:pPr>
            <a:r>
              <a:rPr sz="2300" b="1" i="0">
                <a:solidFill>
                  <a:srgbClr val="162A45"/>
                </a:solidFill>
                <a:latin typeface="Georgia"/>
              </a:rPr>
              <a:t>MUTUALIDADE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162A45"/>
                </a:solidFill>
                <a:latin typeface="Calibri"/>
              </a:rPr>
              <a:t>Membros uns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162A45"/>
                </a:solidFill>
                <a:latin typeface="Calibri"/>
              </a:rPr>
              <a:t>dos outros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162A45"/>
                </a:solidFill>
                <a:latin typeface="Calibri"/>
              </a:rPr>
              <a:t>Rm 12.5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06840" y="1920240"/>
            <a:ext cx="2606040" cy="3383280"/>
          </a:xfrm>
          <a:prstGeom prst="roundRect">
            <a:avLst/>
          </a:prstGeom>
          <a:solidFill>
            <a:srgbClr val="16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>
              <a:spcBef>
                <a:spcPts val="0"/>
              </a:spcBef>
              <a:spcAft>
                <a:spcPts val="1200"/>
              </a:spcAft>
            </a:pPr>
            <a:r>
              <a:rPr sz="2300" b="1" i="0">
                <a:solidFill>
                  <a:srgbClr val="FFFFFF"/>
                </a:solidFill>
                <a:latin typeface="Georgia"/>
              </a:rPr>
              <a:t>UTILIDADE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F6F2E8"/>
                </a:solidFill>
                <a:latin typeface="Calibri"/>
              </a:rPr>
              <a:t>Dons para edificar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F6F2E8"/>
                </a:solidFill>
                <a:latin typeface="Calibri"/>
              </a:rPr>
              <a:t>o corpo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F6F2E8"/>
                </a:solidFill>
                <a:latin typeface="Calibri"/>
              </a:rPr>
              <a:t>Rm 12.6-8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1F3A5F"/>
                </a:solidFill>
                <a:latin typeface="Calibri"/>
              </a:rPr>
              <a:t>Somos um em Cristo  ·  EBD – 2ª IB Campo Grande-MS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1F3A5F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822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FFFFFF"/>
                </a:solidFill>
                <a:latin typeface="Georgia"/>
              </a:rPr>
              <a:t>1. Unidade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686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1" i="1">
                <a:solidFill>
                  <a:srgbClr val="C9A227"/>
                </a:solidFill>
                <a:latin typeface="Calibri"/>
              </a:rPr>
              <a:t>Romanos 12.5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 b="1" i="0">
                <a:solidFill>
                  <a:srgbClr val="1F3A5F"/>
                </a:solidFill>
                <a:latin typeface="Calibri"/>
              </a:rPr>
              <a:t>• “Somos um só corpo.” Uma só família, um só rebanho.</a:t>
            </a:r>
          </a:p>
          <a:p>
            <a:pPr>
              <a:spcAft>
                <a:spcPts val="1400"/>
              </a:spcAft>
            </a:pPr>
            <a:r>
              <a:rPr sz="2600" b="0" i="0">
                <a:solidFill>
                  <a:srgbClr val="2B2B2B"/>
                </a:solidFill>
                <a:latin typeface="Calibri"/>
              </a:rPr>
              <a:t>• O que dá unidade ao corpo é estarmos ligados à mesma Cabeça — Cristo — e irrigados pelo mesmo sangue.</a:t>
            </a:r>
          </a:p>
          <a:p>
            <a:pPr>
              <a:spcAft>
                <a:spcPts val="1400"/>
              </a:spcAft>
            </a:pPr>
            <a:r>
              <a:rPr sz="2600" b="0" i="0">
                <a:solidFill>
                  <a:srgbClr val="2B2B2B"/>
                </a:solidFill>
                <a:latin typeface="Calibri"/>
              </a:rPr>
              <a:t>• A unidade não é algo que produzimos; é algo que recebemos. Já somos um em Cristo — cabe-nos guardá-la.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1F3A5F"/>
                </a:solidFill>
                <a:latin typeface="Calibri"/>
              </a:rPr>
              <a:t>Somos um em Cristo  ·  EBD – 2ª IB Campo Grande-MS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1F3A5F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822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FFFFFF"/>
                </a:solidFill>
                <a:latin typeface="Georgia"/>
              </a:rPr>
              <a:t>2. Diversidade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686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1" i="1">
                <a:solidFill>
                  <a:srgbClr val="C9A227"/>
                </a:solidFill>
                <a:latin typeface="Calibri"/>
              </a:rPr>
              <a:t>Romanos 12.4-6a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 b="1" i="0">
                <a:solidFill>
                  <a:srgbClr val="2E6E6A"/>
                </a:solidFill>
                <a:latin typeface="Calibri"/>
              </a:rPr>
              <a:t>• “Nem todos os membros têm a mesma função.”</a:t>
            </a:r>
          </a:p>
          <a:p>
            <a:pPr>
              <a:spcAft>
                <a:spcPts val="1400"/>
              </a:spcAft>
            </a:pPr>
            <a:r>
              <a:rPr sz="2600" b="0" i="0">
                <a:solidFill>
                  <a:srgbClr val="2B2B2B"/>
                </a:solidFill>
                <a:latin typeface="Calibri"/>
              </a:rPr>
              <a:t>• Pessoas das mais diversas origens, ambientes e temperamentos são dotadas por Deus de grande variedade de dons.</a:t>
            </a:r>
          </a:p>
          <a:p>
            <a:pPr>
              <a:spcAft>
                <a:spcPts val="1400"/>
              </a:spcAft>
            </a:pPr>
            <a:r>
              <a:rPr sz="2600" b="0" i="0">
                <a:solidFill>
                  <a:srgbClr val="2B2B2B"/>
                </a:solidFill>
                <a:latin typeface="Calibri"/>
              </a:rPr>
              <a:t>• A diversidade não ameaça a unidade — ela a enriquece. Cada um coopera para o bem de todos.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1F3A5F"/>
                </a:solidFill>
                <a:latin typeface="Calibri"/>
              </a:rPr>
              <a:t>Somos um em Cristo  ·  EBD – 2ª IB Campo Grande-MS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1F3A5F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822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FFFFFF"/>
                </a:solidFill>
                <a:latin typeface="Georgia"/>
              </a:rPr>
              <a:t>3. Mutualidade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686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1" i="1">
                <a:solidFill>
                  <a:srgbClr val="C9A227"/>
                </a:solidFill>
                <a:latin typeface="Calibri"/>
              </a:rPr>
              <a:t>Romanos 12.5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 b="1" i="0">
                <a:solidFill>
                  <a:srgbClr val="C9A227"/>
                </a:solidFill>
                <a:latin typeface="Calibri"/>
              </a:rPr>
              <a:t>• “Somos membros uns dos outros.”</a:t>
            </a:r>
          </a:p>
          <a:p>
            <a:pPr>
              <a:spcAft>
                <a:spcPts val="1400"/>
              </a:spcAft>
            </a:pPr>
            <a:r>
              <a:rPr sz="2600" b="0" i="0">
                <a:solidFill>
                  <a:srgbClr val="2B2B2B"/>
                </a:solidFill>
                <a:latin typeface="Calibri"/>
              </a:rPr>
              <a:t>• Não estamos competindo — estamos servindo uns aos outros, com igual cuidado uns pelos outros (1Co 12.25).</a:t>
            </a:r>
          </a:p>
          <a:p>
            <a:pPr>
              <a:spcAft>
                <a:spcPts val="1400"/>
              </a:spcAft>
            </a:pPr>
            <a:r>
              <a:rPr sz="2600" b="0" i="0">
                <a:solidFill>
                  <a:srgbClr val="2B2B2B"/>
                </a:solidFill>
                <a:latin typeface="Calibri"/>
              </a:rPr>
              <a:t>• Precisamos uns dos outros. Ninguém é dispensável; ninguém é autossuficiente.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1F3A5F"/>
                </a:solidFill>
                <a:latin typeface="Calibri"/>
              </a:rPr>
              <a:t>Somos um em Cristo  ·  EBD – 2ª IB Campo Grande-MS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1F3A5F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822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FFFFFF"/>
                </a:solidFill>
                <a:latin typeface="Georgia"/>
              </a:rPr>
              <a:t>4. Utilidade: dons para servir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686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1" i="1">
                <a:solidFill>
                  <a:srgbClr val="C9A227"/>
                </a:solidFill>
                <a:latin typeface="Calibri"/>
              </a:rPr>
              <a:t>Romanos 12.6-8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600" b="1" i="0">
                <a:solidFill>
                  <a:srgbClr val="1F3A5F"/>
                </a:solidFill>
                <a:latin typeface="Calibri"/>
              </a:rPr>
              <a:t>• Os dons são dados pela Trindade para edificar o corpo — nenhum para exibição própria: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23160"/>
            <a:ext cx="10424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300" b="0" i="0">
                <a:solidFill>
                  <a:srgbClr val="2B2B2B"/>
                </a:solidFill>
                <a:latin typeface="Calibri"/>
              </a:rPr>
              <a:t>• Profecia — proclamar a Palavra</a:t>
            </a:r>
          </a:p>
          <a:p>
            <a:pPr>
              <a:spcAft>
                <a:spcPts val="800"/>
              </a:spcAft>
            </a:pPr>
            <a:r>
              <a:rPr sz="2300" b="0" i="0">
                <a:solidFill>
                  <a:srgbClr val="2B2B2B"/>
                </a:solidFill>
                <a:latin typeface="Calibri"/>
              </a:rPr>
              <a:t>• Ministério / serviço — servir com amor</a:t>
            </a:r>
          </a:p>
          <a:p>
            <a:pPr>
              <a:spcAft>
                <a:spcPts val="800"/>
              </a:spcAft>
            </a:pPr>
            <a:r>
              <a:rPr sz="2300" b="0" i="0">
                <a:solidFill>
                  <a:srgbClr val="2B2B2B"/>
                </a:solidFill>
                <a:latin typeface="Calibri"/>
              </a:rPr>
              <a:t>• Ensino — instruir no entendimento</a:t>
            </a:r>
          </a:p>
          <a:p>
            <a:pPr>
              <a:spcAft>
                <a:spcPts val="800"/>
              </a:spcAft>
            </a:pPr>
            <a:r>
              <a:rPr sz="2300" b="0" i="0">
                <a:solidFill>
                  <a:srgbClr val="2B2B2B"/>
                </a:solidFill>
                <a:latin typeface="Calibri"/>
              </a:rPr>
              <a:t>• Exortação — encorajar e consolar</a:t>
            </a:r>
          </a:p>
          <a:p>
            <a:pPr>
              <a:spcAft>
                <a:spcPts val="800"/>
              </a:spcAft>
            </a:pPr>
            <a:r>
              <a:rPr sz="2300" b="0" i="0">
                <a:solidFill>
                  <a:srgbClr val="2B2B2B"/>
                </a:solidFill>
                <a:latin typeface="Calibri"/>
              </a:rPr>
              <a:t>• Contribuição — repartir com liberalidade</a:t>
            </a:r>
          </a:p>
          <a:p>
            <a:pPr>
              <a:spcAft>
                <a:spcPts val="800"/>
              </a:spcAft>
            </a:pPr>
            <a:r>
              <a:rPr sz="2300" b="0" i="0">
                <a:solidFill>
                  <a:srgbClr val="2B2B2B"/>
                </a:solidFill>
                <a:latin typeface="Calibri"/>
              </a:rPr>
              <a:t>• Presidência / liderança — dirigir com diligência</a:t>
            </a:r>
          </a:p>
          <a:p>
            <a:pPr>
              <a:spcAft>
                <a:spcPts val="800"/>
              </a:spcAft>
            </a:pPr>
            <a:r>
              <a:rPr sz="2300" b="0" i="0">
                <a:solidFill>
                  <a:srgbClr val="2B2B2B"/>
                </a:solidFill>
                <a:latin typeface="Calibri"/>
              </a:rPr>
              <a:t>• Misericórdia — acolher com alegria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1F3A5F"/>
                </a:solidFill>
                <a:latin typeface="Calibri"/>
              </a:rPr>
              <a:t>Somos um em Cristo  ·  EBD – 2ª IB Campo Grande-MS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1F3A5F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6400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2800" b="1" i="0">
                <a:solidFill>
                  <a:srgbClr val="C9A227"/>
                </a:solidFill>
                <a:latin typeface="Calibri"/>
              </a:rPr>
              <a:t>PONTO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8036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5000" b="1" i="0">
                <a:solidFill>
                  <a:srgbClr val="FFFFFF"/>
                </a:solidFill>
                <a:latin typeface="Georgia"/>
              </a:rPr>
              <a:t>Um só amor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6634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2400" b="0" i="1">
                <a:solidFill>
                  <a:srgbClr val="F6F2E8"/>
                </a:solidFill>
                <a:latin typeface="Calibri"/>
              </a:rPr>
              <a:t>Romanos 12.9-21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822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FFFFFF"/>
                </a:solidFill>
                <a:latin typeface="Georgia"/>
              </a:rPr>
              <a:t>O amor que sustenta a unidade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686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1" i="1">
                <a:solidFill>
                  <a:srgbClr val="C9A227"/>
                </a:solidFill>
                <a:latin typeface="Calibri"/>
              </a:rPr>
              <a:t>Romanos 12.9-10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00200"/>
            <a:ext cx="1051560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rIns="36576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0" i="1">
                <a:solidFill>
                  <a:srgbClr val="162A45"/>
                </a:solidFill>
                <a:latin typeface="Georgia"/>
              </a:rPr>
              <a:t>“O amor seja sem hipocrisia. Detestai o mal, apegando-vos ao bem.”</a:t>
            </a:r>
          </a:p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900" b="1" i="0">
                <a:solidFill>
                  <a:srgbClr val="2E6E6A"/>
                </a:solidFill>
                <a:latin typeface="Calibri"/>
              </a:rPr>
              <a:t>Romanos 12.9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600200"/>
            <a:ext cx="137160" cy="14630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383280"/>
            <a:ext cx="106070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600" b="1" i="0">
                <a:solidFill>
                  <a:srgbClr val="1F3A5F"/>
                </a:solidFill>
                <a:latin typeface="Calibri"/>
              </a:rPr>
              <a:t>• O amor (ágape) é o sistema circulatório do corpo espiritual: faz todos os membros funcionarem de forma saudável.</a:t>
            </a:r>
          </a:p>
          <a:p>
            <a:pPr>
              <a:spcAft>
                <a:spcPts val="1400"/>
              </a:spcAft>
            </a:pPr>
            <a:r>
              <a:rPr sz="2500" b="0" i="0">
                <a:solidFill>
                  <a:srgbClr val="2B2B2B"/>
                </a:solidFill>
                <a:latin typeface="Calibri"/>
              </a:rPr>
              <a:t>• Amor sincero, sem máscara, com discernimento: detestar o mal, apegar-se ao bem.</a:t>
            </a:r>
          </a:p>
          <a:p>
            <a:pPr>
              <a:spcAft>
                <a:spcPts val="1400"/>
              </a:spcAft>
            </a:pPr>
            <a:r>
              <a:rPr sz="2500" b="0" i="0">
                <a:solidFill>
                  <a:srgbClr val="2B2B2B"/>
                </a:solidFill>
                <a:latin typeface="Calibri"/>
              </a:rPr>
              <a:t>• Afeição fraternal e honra mútua: “preferindo-vos em honra uns aos outros” (12.10).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1F3A5F"/>
                </a:solidFill>
                <a:latin typeface="Calibri"/>
              </a:rPr>
              <a:t>Somos um em Cristo  ·  EBD – 2ª IB Campo Grande-MS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1F3A5F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822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FFFFFF"/>
                </a:solidFill>
                <a:latin typeface="Georgia"/>
              </a:rPr>
              <a:t>Um amor que se abre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686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1" i="1">
                <a:solidFill>
                  <a:srgbClr val="C9A227"/>
                </a:solidFill>
                <a:latin typeface="Calibri"/>
              </a:rPr>
              <a:t>Romanos 12.13-16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00200"/>
            <a:ext cx="10515600" cy="1024128"/>
          </a:xfrm>
          <a:prstGeom prst="roundRect">
            <a:avLst/>
          </a:prstGeom>
          <a:solidFill>
            <a:srgbClr val="F6F2E8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ctr"/>
            <a:r>
              <a:rPr b="1" sz="2400">
                <a:solidFill>
                  <a:srgbClr val="1F3A5F"/>
                </a:solidFill>
                <a:latin typeface="Calibri"/>
              </a:rPr>
              <a:t>Coração aberto  —  </a:t>
            </a:r>
            <a:r>
              <a:rPr sz="2200">
                <a:solidFill>
                  <a:srgbClr val="2B2B2B"/>
                </a:solidFill>
                <a:latin typeface="Calibri"/>
              </a:rPr>
              <a:t>amor fraternal, sincero e cordial (12.9-10)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770632"/>
            <a:ext cx="10515600" cy="1024128"/>
          </a:xfrm>
          <a:prstGeom prst="roundRect">
            <a:avLst/>
          </a:prstGeom>
          <a:solidFill>
            <a:srgbClr val="F6F2E8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ctr"/>
            <a:r>
              <a:rPr b="1" sz="2400">
                <a:solidFill>
                  <a:srgbClr val="1F3A5F"/>
                </a:solidFill>
                <a:latin typeface="Calibri"/>
              </a:rPr>
              <a:t>Lábios abertos  —  </a:t>
            </a:r>
            <a:r>
              <a:rPr sz="2200">
                <a:solidFill>
                  <a:srgbClr val="2B2B2B"/>
                </a:solidFill>
                <a:latin typeface="Calibri"/>
              </a:rPr>
              <a:t>abençoar e não amaldiçoar (12.14)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941064"/>
            <a:ext cx="10515600" cy="1024128"/>
          </a:xfrm>
          <a:prstGeom prst="roundRect">
            <a:avLst/>
          </a:prstGeom>
          <a:solidFill>
            <a:srgbClr val="F6F2E8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ctr"/>
            <a:r>
              <a:rPr b="1" sz="2400">
                <a:solidFill>
                  <a:srgbClr val="1F3A5F"/>
                </a:solidFill>
                <a:latin typeface="Calibri"/>
              </a:rPr>
              <a:t>Mãos abertas  —  </a:t>
            </a:r>
            <a:r>
              <a:rPr sz="2200">
                <a:solidFill>
                  <a:srgbClr val="2B2B2B"/>
                </a:solidFill>
                <a:latin typeface="Calibri"/>
              </a:rPr>
              <a:t>repartir com os santos nas necessidades (12.13a)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111496"/>
            <a:ext cx="10515600" cy="1024128"/>
          </a:xfrm>
          <a:prstGeom prst="roundRect">
            <a:avLst/>
          </a:prstGeom>
          <a:solidFill>
            <a:srgbClr val="F6F2E8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ctr"/>
            <a:r>
              <a:rPr b="1" sz="2400">
                <a:solidFill>
                  <a:srgbClr val="1F3A5F"/>
                </a:solidFill>
                <a:latin typeface="Calibri"/>
              </a:rPr>
              <a:t>Casa aberta  —  </a:t>
            </a:r>
            <a:r>
              <a:rPr sz="2200">
                <a:solidFill>
                  <a:srgbClr val="2B2B2B"/>
                </a:solidFill>
                <a:latin typeface="Calibri"/>
              </a:rPr>
              <a:t>praticar a hospitalidade — acolher (12.13b)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1F3A5F"/>
                </a:solidFill>
                <a:latin typeface="Calibri"/>
              </a:rPr>
              <a:t>Somos um em Cristo  ·  EBD – 2ª IB Campo Grande-MS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1F3A5F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822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FFFFFF"/>
                </a:solidFill>
                <a:latin typeface="Georgia"/>
              </a:rPr>
              <a:t>Vencer o mal com o bem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686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1" i="1">
                <a:solidFill>
                  <a:srgbClr val="C9A227"/>
                </a:solidFill>
                <a:latin typeface="Calibri"/>
              </a:rPr>
              <a:t>Romanos 12.17-21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607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600" b="0" i="0">
                <a:solidFill>
                  <a:srgbClr val="2B2B2B"/>
                </a:solidFill>
                <a:latin typeface="Calibri"/>
              </a:rPr>
              <a:t>• A unidade cristã alcança até os inimigos: não retaliar, não vingar-se, não guardar mágoa.</a:t>
            </a:r>
          </a:p>
          <a:p>
            <a:pPr>
              <a:spcAft>
                <a:spcPts val="1400"/>
              </a:spcAft>
            </a:pPr>
            <a:r>
              <a:rPr sz="2600" b="0" i="0">
                <a:solidFill>
                  <a:srgbClr val="2B2B2B"/>
                </a:solidFill>
                <a:latin typeface="Calibri"/>
              </a:rPr>
              <a:t>• “Se possível, quanto depender de vós, tende paz com todos os homens” (12.18). O cristão é pacificador.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572000"/>
            <a:ext cx="1051560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rIns="36576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0" i="1">
                <a:solidFill>
                  <a:srgbClr val="162A45"/>
                </a:solidFill>
                <a:latin typeface="Georgia"/>
              </a:rPr>
              <a:t>“Não te deixes vencer do mal, mas vence o mal com o bem.”</a:t>
            </a:r>
          </a:p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900" b="1" i="0">
                <a:solidFill>
                  <a:srgbClr val="2E6E6A"/>
                </a:solidFill>
                <a:latin typeface="Calibri"/>
              </a:rPr>
              <a:t>Romanos 12.21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572000"/>
            <a:ext cx="137160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1F3A5F"/>
                </a:solidFill>
                <a:latin typeface="Calibri"/>
              </a:rPr>
              <a:t>Somos um em Cristo  ·  EBD – 2ª IB Campo Grande-MS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1F3A5F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822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92608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FFFFFF"/>
                </a:solidFill>
                <a:latin typeface="Georgia"/>
              </a:rPr>
              <a:t>E na nossa igreja?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6070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500" b="0" i="0">
                <a:solidFill>
                  <a:srgbClr val="F6F2E8"/>
                </a:solidFill>
                <a:latin typeface="Calibri"/>
              </a:rPr>
              <a:t>• Guardo a unidade ou alimento divisões e fofocas? (12.16)</a:t>
            </a:r>
          </a:p>
          <a:p>
            <a:pPr>
              <a:spcAft>
                <a:spcPts val="1400"/>
              </a:spcAft>
            </a:pPr>
            <a:r>
              <a:rPr sz="2500" b="0" i="0">
                <a:solidFill>
                  <a:srgbClr val="F6F2E8"/>
                </a:solidFill>
                <a:latin typeface="Calibri"/>
              </a:rPr>
              <a:t>• Conheço e uso o meu dom para edificar o corpo — ou vivo como espectador?</a:t>
            </a:r>
          </a:p>
          <a:p>
            <a:pPr>
              <a:spcAft>
                <a:spcPts val="1400"/>
              </a:spcAft>
            </a:pPr>
            <a:r>
              <a:rPr sz="2500" b="0" i="0">
                <a:solidFill>
                  <a:srgbClr val="F6F2E8"/>
                </a:solidFill>
                <a:latin typeface="Calibri"/>
              </a:rPr>
              <a:t>• Valorizo a diversidade de dons e pessoas, ou exijo que todos sejam iguais a mim?</a:t>
            </a:r>
          </a:p>
          <a:p>
            <a:pPr>
              <a:spcAft>
                <a:spcPts val="1400"/>
              </a:spcAft>
            </a:pPr>
            <a:r>
              <a:rPr sz="2500" b="0" i="0">
                <a:solidFill>
                  <a:srgbClr val="F6F2E8"/>
                </a:solidFill>
                <a:latin typeface="Calibri"/>
              </a:rPr>
              <a:t>• Meu amor é sincero? Minha casa, mãos e lábios estão abertos aos irmãos?</a:t>
            </a:r>
          </a:p>
          <a:p>
            <a:pPr>
              <a:spcAft>
                <a:spcPts val="1400"/>
              </a:spcAft>
            </a:pPr>
            <a:r>
              <a:rPr sz="2500" b="1" i="0">
                <a:solidFill>
                  <a:srgbClr val="C9A227"/>
                </a:solidFill>
                <a:latin typeface="Calibri"/>
              </a:rPr>
              <a:t>• Há alguém com quem preciso fazer as pazes esta semana?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91695" cy="822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FFFFFF"/>
                </a:solidFill>
                <a:latin typeface="Georgia"/>
              </a:rPr>
              <a:t>Conclusão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6070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 b="1" i="0">
                <a:solidFill>
                  <a:srgbClr val="1F3A5F"/>
                </a:solidFill>
                <a:latin typeface="Calibri"/>
              </a:rPr>
              <a:t>• Em Cristo, Deus fez de muitos um só povo: uma só oliveira, um só corpo, um só amor.</a:t>
            </a:r>
          </a:p>
          <a:p>
            <a:pPr>
              <a:spcAft>
                <a:spcPts val="1400"/>
              </a:spcAft>
            </a:pPr>
            <a:r>
              <a:rPr sz="2600" b="0" i="0">
                <a:solidFill>
                  <a:srgbClr val="2B2B2B"/>
                </a:solidFill>
                <a:latin typeface="Calibri"/>
              </a:rPr>
              <a:t>• A unidade é dom recebido pela graça; a diversidade nos enriquece; o amor mantém tudo unido.</a:t>
            </a:r>
          </a:p>
          <a:p>
            <a:pPr>
              <a:spcAft>
                <a:spcPts val="1400"/>
              </a:spcAft>
            </a:pPr>
            <a:r>
              <a:rPr sz="2600" b="0" i="0">
                <a:solidFill>
                  <a:srgbClr val="2B2B2B"/>
                </a:solidFill>
                <a:latin typeface="Calibri"/>
              </a:rPr>
              <a:t>• Ser um em Cristo não é um ideal distante: é uma realidade a ser vivida, todos os dias, uns com os outros.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120640"/>
            <a:ext cx="1051560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rIns="36576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0" i="1">
                <a:solidFill>
                  <a:srgbClr val="162A45"/>
                </a:solidFill>
                <a:latin typeface="Georgia"/>
              </a:rPr>
              <a:t>“A Ele seja a glória para sempre! Amém.”</a:t>
            </a:r>
          </a:p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900" b="1" i="0">
                <a:solidFill>
                  <a:srgbClr val="2E6E6A"/>
                </a:solidFill>
                <a:latin typeface="Calibri"/>
              </a:rPr>
              <a:t>Romanos 11.36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5120640"/>
            <a:ext cx="137160" cy="10972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00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1F3A5F"/>
                </a:solidFill>
                <a:latin typeface="Calibri"/>
              </a:rPr>
              <a:t>Somos um em Cristo  ·  EBD – 2ª IB Campo Grande-MS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008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1F3A5F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560320"/>
            <a:ext cx="12191695" cy="6400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5200" b="1" i="0">
                <a:solidFill>
                  <a:srgbClr val="FFFFFF"/>
                </a:solidFill>
                <a:latin typeface="Georgia"/>
              </a:rPr>
              <a:t>SOMOS UM EM CRISTO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2400" b="0" i="1">
                <a:solidFill>
                  <a:srgbClr val="C9A227"/>
                </a:solidFill>
                <a:latin typeface="Calibri"/>
              </a:rPr>
              <a:t>“Conquanto muitos, somos um só corpo em Cristo” — Rm 12.5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212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600" b="0" i="0">
                <a:solidFill>
                  <a:srgbClr val="F6F2E8"/>
                </a:solidFill>
                <a:latin typeface="Calibri"/>
              </a:rPr>
              <a:t>Escola Bíblica Dominical · Segunda Igreja Batista de Campo Grande-MS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